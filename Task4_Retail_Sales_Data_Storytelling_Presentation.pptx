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92D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267D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1508760"/>
            <a:ext cx="1024128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200" b="1">
                <a:solidFill>
                  <a:srgbClr val="FFFFFF"/>
                </a:solidFill>
              </a:defRPr>
            </a:pPr>
            <a:r>
              <a:t>Retail Sales Analysis</a:t>
            </a:r>
          </a:p>
          <a:p>
            <a:pPr>
              <a:spcBef>
                <a:spcPts val="1400"/>
              </a:spcBef>
              <a:defRPr sz="2700">
                <a:solidFill>
                  <a:srgbClr val="BEE1DC"/>
                </a:solidFill>
              </a:defRPr>
            </a:pPr>
            <a:r>
              <a:t>Data Storytelling and Statistical Validation</a:t>
            </a:r>
          </a:p>
          <a:p>
            <a:pPr>
              <a:spcBef>
                <a:spcPts val="2000"/>
              </a:spcBef>
              <a:defRPr sz="1700">
                <a:solidFill>
                  <a:srgbClr val="FFFFFF"/>
                </a:solidFill>
              </a:defRPr>
            </a:pPr>
            <a:r>
              <a:t>Internship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16636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FFFFFF"/>
                </a:solidFill>
              </a:defRPr>
            </a:pPr>
            <a:r>
              <a:t>Presented by: Ananya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2D41"/>
                </a:solidFill>
              </a:defRPr>
            </a:pPr>
            <a:r>
              <a:t>Business Objective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417320"/>
            <a:ext cx="100584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2D3741"/>
                </a:solidFill>
              </a:defRPr>
            </a:pPr>
            <a:r>
              <a:t>• Analyze retail sales performance using historical transaction data</a:t>
            </a:r>
          </a:p>
          <a:p>
            <a:pPr>
              <a:spcAft>
                <a:spcPts val="1000"/>
              </a:spcAft>
              <a:defRPr sz="2000">
                <a:solidFill>
                  <a:srgbClr val="2D3741"/>
                </a:solidFill>
              </a:defRPr>
            </a:pPr>
            <a:r>
              <a:t>• Identify important sales and customer patterns</a:t>
            </a:r>
          </a:p>
          <a:p>
            <a:pPr>
              <a:spcAft>
                <a:spcPts val="1000"/>
              </a:spcAft>
              <a:defRPr sz="2000">
                <a:solidFill>
                  <a:srgbClr val="2D3741"/>
                </a:solidFill>
              </a:defRPr>
            </a:pPr>
            <a:r>
              <a:t>• Discover high-performing products and markets</a:t>
            </a:r>
          </a:p>
          <a:p>
            <a:pPr>
              <a:spcAft>
                <a:spcPts val="1000"/>
              </a:spcAft>
              <a:defRPr sz="2000">
                <a:solidFill>
                  <a:srgbClr val="2D3741"/>
                </a:solidFill>
              </a:defRPr>
            </a:pPr>
            <a:r>
              <a:t>• Understand customer purchasing behavior</a:t>
            </a:r>
          </a:p>
          <a:p>
            <a:pPr>
              <a:spcAft>
                <a:spcPts val="1000"/>
              </a:spcAft>
              <a:defRPr sz="2000">
                <a:solidFill>
                  <a:srgbClr val="2D3741"/>
                </a:solidFill>
              </a:defRPr>
            </a:pPr>
            <a:r>
              <a:t>• Validate a business hypothesis using statistical testing</a:t>
            </a:r>
          </a:p>
          <a:p>
            <a:pPr>
              <a:spcAft>
                <a:spcPts val="1000"/>
              </a:spcAft>
              <a:defRPr sz="2000">
                <a:solidFill>
                  <a:srgbClr val="2D3741"/>
                </a:solidFill>
              </a:defRPr>
            </a:pPr>
            <a:r>
              <a:t>• Generate actionable business recommendations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510528"/>
            <a:ext cx="10972800" cy="18288"/>
          </a:xfrm>
          <a:prstGeom prst="rect">
            <a:avLst/>
          </a:prstGeom>
          <a:solidFill>
            <a:srgbClr val="DCE1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789920" y="6547104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737D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2D41"/>
                </a:solidFill>
              </a:defRPr>
            </a:pPr>
            <a:r>
              <a:t>Data &amp; Analytical Approach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3383280" cy="1828800"/>
          </a:xfrm>
          <a:prstGeom prst="roundRect">
            <a:avLst/>
          </a:prstGeom>
          <a:solidFill>
            <a:srgbClr val="F4F7F8"/>
          </a:solidFill>
          <a:ln>
            <a:solidFill>
              <a:srgbClr val="E1E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73152" cy="1828800"/>
          </a:xfrm>
          <a:prstGeom prst="rect">
            <a:avLst/>
          </a:prstGeom>
          <a:solidFill>
            <a:srgbClr val="267D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0120" y="1536192"/>
            <a:ext cx="29718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69737D"/>
                </a:solidFill>
              </a:defRPr>
            </a:pPr>
            <a:r>
              <a:t>DATASET</a:t>
            </a:r>
          </a:p>
          <a:p>
            <a:pPr>
              <a:spcBef>
                <a:spcPts val="500"/>
              </a:spcBef>
              <a:defRPr sz="2500" b="1">
                <a:solidFill>
                  <a:srgbClr val="192D41"/>
                </a:solidFill>
              </a:defRPr>
            </a:pPr>
            <a:r>
              <a:t>Retail_Sales_Cleaned.xlsx</a:t>
            </a:r>
          </a:p>
          <a:p>
            <a:pPr>
              <a:spcBef>
                <a:spcPts val="500"/>
              </a:spcBef>
              <a:defRPr sz="1200">
                <a:solidFill>
                  <a:srgbClr val="2D3741"/>
                </a:solidFill>
              </a:defRPr>
            </a:pPr>
            <a:r>
              <a:t>Cleaned retail transaction dataset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371600"/>
            <a:ext cx="3383280" cy="1828800"/>
          </a:xfrm>
          <a:prstGeom prst="roundRect">
            <a:avLst/>
          </a:prstGeom>
          <a:solidFill>
            <a:srgbClr val="F4F7F8"/>
          </a:solidFill>
          <a:ln>
            <a:solidFill>
              <a:srgbClr val="E1E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389120" y="1371600"/>
            <a:ext cx="73152" cy="1828800"/>
          </a:xfrm>
          <a:prstGeom prst="rect">
            <a:avLst/>
          </a:prstGeom>
          <a:solidFill>
            <a:srgbClr val="3782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617720" y="1536192"/>
            <a:ext cx="29718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69737D"/>
                </a:solidFill>
              </a:defRPr>
            </a:pPr>
            <a:r>
              <a:t>ANALYSIS</a:t>
            </a:r>
          </a:p>
          <a:p>
            <a:pPr>
              <a:spcBef>
                <a:spcPts val="500"/>
              </a:spcBef>
              <a:defRPr sz="2500" b="1">
                <a:solidFill>
                  <a:srgbClr val="192D41"/>
                </a:solidFill>
              </a:defRPr>
            </a:pPr>
            <a:r>
              <a:t>6+ areas</a:t>
            </a:r>
          </a:p>
          <a:p>
            <a:pPr>
              <a:spcBef>
                <a:spcPts val="500"/>
              </a:spcBef>
              <a:defRPr sz="1200">
                <a:solidFill>
                  <a:srgbClr val="2D3741"/>
                </a:solidFill>
              </a:defRPr>
            </a:pPr>
            <a:r>
              <a:t>Sales, products, customers, cities, age and time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371600"/>
            <a:ext cx="3383280" cy="1828800"/>
          </a:xfrm>
          <a:prstGeom prst="roundRect">
            <a:avLst/>
          </a:prstGeom>
          <a:solidFill>
            <a:srgbClr val="F4F7F8"/>
          </a:solidFill>
          <a:ln>
            <a:solidFill>
              <a:srgbClr val="E1E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8046720" y="1371600"/>
            <a:ext cx="73152" cy="1828800"/>
          </a:xfrm>
          <a:prstGeom prst="rect">
            <a:avLst/>
          </a:prstGeom>
          <a:solidFill>
            <a:srgbClr val="D28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75320" y="1536192"/>
            <a:ext cx="29718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69737D"/>
                </a:solidFill>
              </a:defRPr>
            </a:pPr>
            <a:r>
              <a:t>STATISTICS</a:t>
            </a:r>
          </a:p>
          <a:p>
            <a:pPr>
              <a:spcBef>
                <a:spcPts val="500"/>
              </a:spcBef>
              <a:defRPr sz="2500" b="1">
                <a:solidFill>
                  <a:srgbClr val="192D41"/>
                </a:solidFill>
              </a:defRPr>
            </a:pPr>
            <a:r>
              <a:t>Welch's t-test</a:t>
            </a:r>
          </a:p>
          <a:p>
            <a:pPr>
              <a:spcBef>
                <a:spcPts val="500"/>
              </a:spcBef>
              <a:defRPr sz="1200">
                <a:solidFill>
                  <a:srgbClr val="2D3741"/>
                </a:solidFill>
              </a:defRPr>
            </a:pPr>
            <a:r>
              <a:t>P-value and 95% confidence interval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657600"/>
            <a:ext cx="10698480" cy="1645920"/>
          </a:xfrm>
          <a:prstGeom prst="roundRect">
            <a:avLst/>
          </a:prstGeom>
          <a:solidFill>
            <a:srgbClr val="F4F7F8"/>
          </a:solidFill>
          <a:ln>
            <a:solidFill>
              <a:srgbClr val="E1E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731520" y="3657600"/>
            <a:ext cx="73152" cy="1645920"/>
          </a:xfrm>
          <a:prstGeom prst="rect">
            <a:avLst/>
          </a:prstGeom>
          <a:solidFill>
            <a:srgbClr val="267D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60120" y="3822191"/>
            <a:ext cx="10287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69737D"/>
                </a:solidFill>
              </a:defRPr>
            </a:pPr>
            <a:r>
              <a:t>TOOLS</a:t>
            </a:r>
          </a:p>
          <a:p>
            <a:pPr>
              <a:spcBef>
                <a:spcPts val="500"/>
              </a:spcBef>
              <a:defRPr sz="1200">
                <a:solidFill>
                  <a:srgbClr val="2D3741"/>
                </a:solidFill>
              </a:defRPr>
            </a:pPr>
            <a:r>
              <a:t>Python  •  Pandas  •  NumPy  •  Matplotlib  •  SciPy  •  Power BI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4360" y="6510528"/>
            <a:ext cx="10972800" cy="18288"/>
          </a:xfrm>
          <a:prstGeom prst="rect">
            <a:avLst/>
          </a:prstGeom>
          <a:solidFill>
            <a:srgbClr val="DCE1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0789920" y="6547104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737D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2D41"/>
                </a:solidFill>
              </a:defRPr>
            </a:pPr>
            <a:r>
              <a:t>Key Sales Insights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3383280" cy="1828800"/>
          </a:xfrm>
          <a:prstGeom prst="roundRect">
            <a:avLst/>
          </a:prstGeom>
          <a:solidFill>
            <a:srgbClr val="F4F7F8"/>
          </a:solidFill>
          <a:ln>
            <a:solidFill>
              <a:srgbClr val="E1E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73152" cy="1828800"/>
          </a:xfrm>
          <a:prstGeom prst="rect">
            <a:avLst/>
          </a:prstGeom>
          <a:solidFill>
            <a:srgbClr val="267D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0120" y="1536192"/>
            <a:ext cx="29718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69737D"/>
                </a:solidFill>
              </a:defRPr>
            </a:pPr>
            <a:r>
              <a:t>PRODUCT CATEGORY</a:t>
            </a:r>
          </a:p>
          <a:p>
            <a:pPr>
              <a:spcBef>
                <a:spcPts val="500"/>
              </a:spcBef>
              <a:defRPr sz="2500" b="1">
                <a:solidFill>
                  <a:srgbClr val="192D41"/>
                </a:solidFill>
              </a:defRPr>
            </a:pPr>
            <a:r>
              <a:t>Electronics</a:t>
            </a:r>
          </a:p>
          <a:p>
            <a:pPr>
              <a:spcBef>
                <a:spcPts val="500"/>
              </a:spcBef>
              <a:defRPr sz="1200">
                <a:solidFill>
                  <a:srgbClr val="2D3741"/>
                </a:solidFill>
              </a:defRPr>
            </a:pPr>
            <a:r>
              <a:t>Strongest-performing category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371600"/>
            <a:ext cx="3383280" cy="1828800"/>
          </a:xfrm>
          <a:prstGeom prst="roundRect">
            <a:avLst/>
          </a:prstGeom>
          <a:solidFill>
            <a:srgbClr val="F4F7F8"/>
          </a:solidFill>
          <a:ln>
            <a:solidFill>
              <a:srgbClr val="E1E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389120" y="1371600"/>
            <a:ext cx="73152" cy="1828800"/>
          </a:xfrm>
          <a:prstGeom prst="rect">
            <a:avLst/>
          </a:prstGeom>
          <a:solidFill>
            <a:srgbClr val="3782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617720" y="1536192"/>
            <a:ext cx="29718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69737D"/>
                </a:solidFill>
              </a:defRPr>
            </a:pPr>
            <a:r>
              <a:t>TOP PRODUCT</a:t>
            </a:r>
          </a:p>
          <a:p>
            <a:pPr>
              <a:spcBef>
                <a:spcPts val="500"/>
              </a:spcBef>
              <a:defRPr sz="2500" b="1">
                <a:solidFill>
                  <a:srgbClr val="192D41"/>
                </a:solidFill>
              </a:defRPr>
            </a:pPr>
            <a:r>
              <a:t>Wireless Earbuds</a:t>
            </a:r>
          </a:p>
          <a:p>
            <a:pPr>
              <a:spcBef>
                <a:spcPts val="500"/>
              </a:spcBef>
              <a:defRPr sz="1200">
                <a:solidFill>
                  <a:srgbClr val="2D3741"/>
                </a:solidFill>
              </a:defRPr>
            </a:pPr>
            <a:r>
              <a:t>Among the top-performing products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371600"/>
            <a:ext cx="3383280" cy="1828800"/>
          </a:xfrm>
          <a:prstGeom prst="roundRect">
            <a:avLst/>
          </a:prstGeom>
          <a:solidFill>
            <a:srgbClr val="F4F7F8"/>
          </a:solidFill>
          <a:ln>
            <a:solidFill>
              <a:srgbClr val="E1E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8046720" y="1371600"/>
            <a:ext cx="73152" cy="1828800"/>
          </a:xfrm>
          <a:prstGeom prst="rect">
            <a:avLst/>
          </a:prstGeom>
          <a:solidFill>
            <a:srgbClr val="D28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75320" y="1536192"/>
            <a:ext cx="29718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69737D"/>
                </a:solidFill>
              </a:defRPr>
            </a:pPr>
            <a:r>
              <a:t>TOP CITY</a:t>
            </a:r>
          </a:p>
          <a:p>
            <a:pPr>
              <a:spcBef>
                <a:spcPts val="500"/>
              </a:spcBef>
              <a:defRPr sz="2500" b="1">
                <a:solidFill>
                  <a:srgbClr val="192D41"/>
                </a:solidFill>
              </a:defRPr>
            </a:pPr>
            <a:r>
              <a:t>Bengaluru</a:t>
            </a:r>
          </a:p>
          <a:p>
            <a:pPr>
              <a:spcBef>
                <a:spcPts val="500"/>
              </a:spcBef>
              <a:defRPr sz="1200">
                <a:solidFill>
                  <a:srgbClr val="2D3741"/>
                </a:solidFill>
              </a:defRPr>
            </a:pPr>
            <a:r>
              <a:t>Highest sales among analyzed cities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657600"/>
            <a:ext cx="3383280" cy="1828800"/>
          </a:xfrm>
          <a:prstGeom prst="roundRect">
            <a:avLst/>
          </a:prstGeom>
          <a:solidFill>
            <a:srgbClr val="F4F7F8"/>
          </a:solidFill>
          <a:ln>
            <a:solidFill>
              <a:srgbClr val="E1E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731520" y="3657600"/>
            <a:ext cx="73152" cy="1828800"/>
          </a:xfrm>
          <a:prstGeom prst="rect">
            <a:avLst/>
          </a:prstGeom>
          <a:solidFill>
            <a:srgbClr val="267D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60120" y="3822191"/>
            <a:ext cx="29718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69737D"/>
                </a:solidFill>
              </a:defRPr>
            </a:pPr>
            <a:r>
              <a:t>SEASONAL TREND</a:t>
            </a:r>
          </a:p>
          <a:p>
            <a:pPr>
              <a:spcBef>
                <a:spcPts val="500"/>
              </a:spcBef>
              <a:defRPr sz="2500" b="1">
                <a:solidFill>
                  <a:srgbClr val="192D41"/>
                </a:solidFill>
              </a:defRPr>
            </a:pPr>
            <a:r>
              <a:t>Nov–Dec</a:t>
            </a:r>
          </a:p>
          <a:p>
            <a:pPr>
              <a:spcBef>
                <a:spcPts val="500"/>
              </a:spcBef>
              <a:defRPr sz="1200">
                <a:solidFill>
                  <a:srgbClr val="2D3741"/>
                </a:solidFill>
              </a:defRPr>
            </a:pPr>
            <a:r>
              <a:t>Stronger sales activity toward year-end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89120" y="3657600"/>
            <a:ext cx="3383280" cy="1828800"/>
          </a:xfrm>
          <a:prstGeom prst="roundRect">
            <a:avLst/>
          </a:prstGeom>
          <a:solidFill>
            <a:srgbClr val="F4F7F8"/>
          </a:solidFill>
          <a:ln>
            <a:solidFill>
              <a:srgbClr val="E1E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389120" y="3657600"/>
            <a:ext cx="73152" cy="1828800"/>
          </a:xfrm>
          <a:prstGeom prst="rect">
            <a:avLst/>
          </a:prstGeom>
          <a:solidFill>
            <a:srgbClr val="3782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617720" y="3822191"/>
            <a:ext cx="29718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69737D"/>
                </a:solidFill>
              </a:defRPr>
            </a:pPr>
            <a:r>
              <a:t>AGE GROUP</a:t>
            </a:r>
          </a:p>
          <a:p>
            <a:pPr>
              <a:spcBef>
                <a:spcPts val="500"/>
              </a:spcBef>
              <a:defRPr sz="2500" b="1">
                <a:solidFill>
                  <a:srgbClr val="192D41"/>
                </a:solidFill>
              </a:defRPr>
            </a:pPr>
            <a:r>
              <a:t>26–35</a:t>
            </a:r>
          </a:p>
          <a:p>
            <a:pPr>
              <a:spcBef>
                <a:spcPts val="500"/>
              </a:spcBef>
              <a:defRPr sz="1200">
                <a:solidFill>
                  <a:srgbClr val="2D3741"/>
                </a:solidFill>
              </a:defRPr>
            </a:pPr>
            <a:r>
              <a:t>Strong purchasing activity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46720" y="3657600"/>
            <a:ext cx="3383280" cy="1828800"/>
          </a:xfrm>
          <a:prstGeom prst="roundRect">
            <a:avLst/>
          </a:prstGeom>
          <a:solidFill>
            <a:srgbClr val="F4F7F8"/>
          </a:solidFill>
          <a:ln>
            <a:solidFill>
              <a:srgbClr val="E1E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8046720" y="3657600"/>
            <a:ext cx="73152" cy="1828800"/>
          </a:xfrm>
          <a:prstGeom prst="rect">
            <a:avLst/>
          </a:prstGeom>
          <a:solidFill>
            <a:srgbClr val="D28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275320" y="3822191"/>
            <a:ext cx="29718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69737D"/>
                </a:solidFill>
              </a:defRPr>
            </a:pPr>
            <a:r>
              <a:t>BUSINESS FOCUS</a:t>
            </a:r>
          </a:p>
          <a:p>
            <a:pPr>
              <a:spcBef>
                <a:spcPts val="500"/>
              </a:spcBef>
              <a:defRPr sz="2500" b="1">
                <a:solidFill>
                  <a:srgbClr val="192D41"/>
                </a:solidFill>
              </a:defRPr>
            </a:pPr>
            <a:r>
              <a:t>Demand</a:t>
            </a:r>
          </a:p>
          <a:p>
            <a:pPr>
              <a:spcBef>
                <a:spcPts val="500"/>
              </a:spcBef>
              <a:defRPr sz="1200">
                <a:solidFill>
                  <a:srgbClr val="2D3741"/>
                </a:solidFill>
              </a:defRPr>
            </a:pPr>
            <a:r>
              <a:t>Use patterns to support inventory and promotions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94360" y="6510528"/>
            <a:ext cx="10972800" cy="18288"/>
          </a:xfrm>
          <a:prstGeom prst="rect">
            <a:avLst/>
          </a:prstGeom>
          <a:solidFill>
            <a:srgbClr val="DCE1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0789920" y="6547104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737D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2D41"/>
                </a:solidFill>
              </a:defRPr>
            </a:pPr>
            <a:r>
              <a:t>Customer Insights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25880"/>
            <a:ext cx="10332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2D3741"/>
                </a:solidFill>
              </a:defRPr>
            </a:pPr>
            <a:r>
              <a:t>• Customer purchasing behavior varies across demographic and behavioral groups</a:t>
            </a:r>
          </a:p>
          <a:p>
            <a:pPr>
              <a:spcAft>
                <a:spcPts val="1000"/>
              </a:spcAft>
              <a:defRPr sz="2000">
                <a:solidFill>
                  <a:srgbClr val="2D3741"/>
                </a:solidFill>
              </a:defRPr>
            </a:pPr>
            <a:r>
              <a:t>• Female customers showed a slightly higher share of overall sales in the exploratory analysis</a:t>
            </a:r>
          </a:p>
          <a:p>
            <a:pPr>
              <a:spcAft>
                <a:spcPts val="1000"/>
              </a:spcAft>
              <a:defRPr sz="2000">
                <a:solidFill>
                  <a:srgbClr val="2D3741"/>
                </a:solidFill>
              </a:defRPr>
            </a:pPr>
            <a:r>
              <a:t>• Customer value and purchasing behavior provide useful targeting opportunities</a:t>
            </a:r>
          </a:p>
          <a:p>
            <a:pPr>
              <a:spcAft>
                <a:spcPts val="1000"/>
              </a:spcAft>
              <a:defRPr sz="2000">
                <a:solidFill>
                  <a:srgbClr val="2D3741"/>
                </a:solidFill>
              </a:defRPr>
            </a:pPr>
            <a:r>
              <a:t>• Recency, frequency, and monetary value can support customer segmentation</a:t>
            </a:r>
          </a:p>
          <a:p>
            <a:pPr>
              <a:spcAft>
                <a:spcPts val="1000"/>
              </a:spcAft>
              <a:defRPr sz="2000">
                <a:solidFill>
                  <a:srgbClr val="2D3741"/>
                </a:solidFill>
              </a:defRPr>
            </a:pPr>
            <a:r>
              <a:t>• Demographic characteristics should not be used as the only basis for targeting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510528"/>
            <a:ext cx="10972800" cy="18288"/>
          </a:xfrm>
          <a:prstGeom prst="rect">
            <a:avLst/>
          </a:prstGeom>
          <a:solidFill>
            <a:srgbClr val="DCE1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789920" y="6547104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737D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2D41"/>
                </a:solidFill>
              </a:defRPr>
            </a:pPr>
            <a:r>
              <a:t>Hypothesis Testing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25880"/>
            <a:ext cx="10698480" cy="1325880"/>
          </a:xfrm>
          <a:prstGeom prst="roundRect">
            <a:avLst/>
          </a:prstGeom>
          <a:solidFill>
            <a:srgbClr val="F4F7F8"/>
          </a:solidFill>
          <a:ln>
            <a:solidFill>
              <a:srgbClr val="E1E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31520" y="1325880"/>
            <a:ext cx="73152" cy="1325880"/>
          </a:xfrm>
          <a:prstGeom prst="rect">
            <a:avLst/>
          </a:prstGeom>
          <a:solidFill>
            <a:srgbClr val="267D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0120" y="1490472"/>
            <a:ext cx="102870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69737D"/>
                </a:solidFill>
              </a:defRPr>
            </a:pPr>
            <a:r>
              <a:t>BUSINESS QUESTION</a:t>
            </a:r>
          </a:p>
          <a:p>
            <a:pPr>
              <a:spcBef>
                <a:spcPts val="500"/>
              </a:spcBef>
              <a:defRPr sz="2500" b="1">
                <a:solidFill>
                  <a:srgbClr val="192D41"/>
                </a:solidFill>
              </a:defRPr>
            </a:pPr>
            <a:r>
              <a:t>Does average sales value differ significantly between male and female customers?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971800"/>
            <a:ext cx="5166360" cy="2103120"/>
          </a:xfrm>
          <a:prstGeom prst="roundRect">
            <a:avLst/>
          </a:prstGeom>
          <a:solidFill>
            <a:srgbClr val="F4F7F8"/>
          </a:solidFill>
          <a:ln>
            <a:solidFill>
              <a:srgbClr val="E1E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31520" y="2971800"/>
            <a:ext cx="73152" cy="2103120"/>
          </a:xfrm>
          <a:prstGeom prst="rect">
            <a:avLst/>
          </a:prstGeom>
          <a:solidFill>
            <a:srgbClr val="3782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60120" y="3136392"/>
            <a:ext cx="4754880" cy="18287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69737D"/>
                </a:solidFill>
              </a:defRPr>
            </a:pPr>
            <a:r>
              <a:t>NULL HYPOTHESIS (H₀)</a:t>
            </a:r>
          </a:p>
          <a:p>
            <a:pPr>
              <a:spcBef>
                <a:spcPts val="500"/>
              </a:spcBef>
              <a:defRPr sz="1200">
                <a:solidFill>
                  <a:srgbClr val="2D3741"/>
                </a:solidFill>
              </a:defRPr>
            </a:pPr>
            <a:r>
              <a:t>There is no statistically significant difference in average sales between male and female customers.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80760" y="2971800"/>
            <a:ext cx="5349240" cy="2103120"/>
          </a:xfrm>
          <a:prstGeom prst="roundRect">
            <a:avLst/>
          </a:prstGeom>
          <a:solidFill>
            <a:srgbClr val="F4F7F8"/>
          </a:solidFill>
          <a:ln>
            <a:solidFill>
              <a:srgbClr val="E1E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080760" y="2971800"/>
            <a:ext cx="73152" cy="2103120"/>
          </a:xfrm>
          <a:prstGeom prst="rect">
            <a:avLst/>
          </a:prstGeom>
          <a:solidFill>
            <a:srgbClr val="D28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309360" y="3136392"/>
            <a:ext cx="4937759" cy="18287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69737D"/>
                </a:solidFill>
              </a:defRPr>
            </a:pPr>
            <a:r>
              <a:t>ALTERNATIVE HYPOTHESIS (H₁)</a:t>
            </a:r>
          </a:p>
          <a:p>
            <a:pPr>
              <a:spcBef>
                <a:spcPts val="500"/>
              </a:spcBef>
              <a:defRPr sz="1200">
                <a:solidFill>
                  <a:srgbClr val="2D3741"/>
                </a:solidFill>
              </a:defRPr>
            </a:pPr>
            <a:r>
              <a:t>There is a statistically significant difference in average sales between male and female customers.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5486400"/>
            <a:ext cx="10515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92D41"/>
                </a:solidFill>
              </a:defRPr>
            </a:pPr>
            <a:r>
              <a:t>Test: Independent two-sample Welch's t-test     |     Significance level: α = 0.05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4360" y="6510528"/>
            <a:ext cx="10972800" cy="18288"/>
          </a:xfrm>
          <a:prstGeom prst="rect">
            <a:avLst/>
          </a:prstGeom>
          <a:solidFill>
            <a:srgbClr val="DCE1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789920" y="6547104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737D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2D41"/>
                </a:solidFill>
              </a:defRPr>
            </a:pPr>
            <a:r>
              <a:t>Statistical Results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280160"/>
            <a:ext cx="2560320" cy="1508760"/>
          </a:xfrm>
          <a:prstGeom prst="roundRect">
            <a:avLst/>
          </a:prstGeom>
          <a:solidFill>
            <a:srgbClr val="F4F7F8"/>
          </a:solidFill>
          <a:ln>
            <a:solidFill>
              <a:srgbClr val="E1E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40080" y="1280160"/>
            <a:ext cx="73152" cy="1508760"/>
          </a:xfrm>
          <a:prstGeom prst="rect">
            <a:avLst/>
          </a:prstGeom>
          <a:solidFill>
            <a:srgbClr val="267D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1444751"/>
            <a:ext cx="2148839" cy="1234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69737D"/>
                </a:solidFill>
              </a:defRPr>
            </a:pPr>
            <a:r>
              <a:t>MALE AVERAGE SALES</a:t>
            </a:r>
          </a:p>
          <a:p>
            <a:pPr>
              <a:spcBef>
                <a:spcPts val="500"/>
              </a:spcBef>
              <a:defRPr sz="2500" b="1">
                <a:solidFill>
                  <a:srgbClr val="192D41"/>
                </a:solidFill>
              </a:defRPr>
            </a:pPr>
            <a:r>
              <a:t>₹141,438.90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37560" y="1280160"/>
            <a:ext cx="2560320" cy="1508760"/>
          </a:xfrm>
          <a:prstGeom prst="roundRect">
            <a:avLst/>
          </a:prstGeom>
          <a:solidFill>
            <a:srgbClr val="F4F7F8"/>
          </a:solidFill>
          <a:ln>
            <a:solidFill>
              <a:srgbClr val="E1E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337560" y="1280160"/>
            <a:ext cx="73152" cy="1508760"/>
          </a:xfrm>
          <a:prstGeom prst="rect">
            <a:avLst/>
          </a:prstGeom>
          <a:solidFill>
            <a:srgbClr val="3782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566160" y="1444751"/>
            <a:ext cx="2148839" cy="1234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69737D"/>
                </a:solidFill>
              </a:defRPr>
            </a:pPr>
            <a:r>
              <a:t>FEMALE AVERAGE SALES</a:t>
            </a:r>
          </a:p>
          <a:p>
            <a:pPr>
              <a:spcBef>
                <a:spcPts val="500"/>
              </a:spcBef>
              <a:defRPr sz="2500" b="1">
                <a:solidFill>
                  <a:srgbClr val="192D41"/>
                </a:solidFill>
              </a:defRPr>
            </a:pPr>
            <a:r>
              <a:t>₹137,181.66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35040" y="1280160"/>
            <a:ext cx="2560320" cy="1508760"/>
          </a:xfrm>
          <a:prstGeom prst="roundRect">
            <a:avLst/>
          </a:prstGeom>
          <a:solidFill>
            <a:srgbClr val="F4F7F8"/>
          </a:solidFill>
          <a:ln>
            <a:solidFill>
              <a:srgbClr val="E1E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035040" y="1280160"/>
            <a:ext cx="73152" cy="1508760"/>
          </a:xfrm>
          <a:prstGeom prst="rect">
            <a:avLst/>
          </a:prstGeom>
          <a:solidFill>
            <a:srgbClr val="D28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263640" y="1444751"/>
            <a:ext cx="2148839" cy="1234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69737D"/>
                </a:solidFill>
              </a:defRPr>
            </a:pPr>
            <a:r>
              <a:t>MEAN DIFFERENCE</a:t>
            </a:r>
          </a:p>
          <a:p>
            <a:pPr>
              <a:spcBef>
                <a:spcPts val="500"/>
              </a:spcBef>
              <a:defRPr sz="2500" b="1">
                <a:solidFill>
                  <a:srgbClr val="192D41"/>
                </a:solidFill>
              </a:defRPr>
            </a:pPr>
            <a:r>
              <a:t>₹4,257.24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732520" y="1280160"/>
            <a:ext cx="2560320" cy="1508760"/>
          </a:xfrm>
          <a:prstGeom prst="roundRect">
            <a:avLst/>
          </a:prstGeom>
          <a:solidFill>
            <a:srgbClr val="F4F7F8"/>
          </a:solidFill>
          <a:ln>
            <a:solidFill>
              <a:srgbClr val="E1E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732520" y="1280160"/>
            <a:ext cx="73152" cy="1508760"/>
          </a:xfrm>
          <a:prstGeom prst="rect">
            <a:avLst/>
          </a:prstGeom>
          <a:solidFill>
            <a:srgbClr val="267D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961120" y="1444751"/>
            <a:ext cx="2148839" cy="1234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69737D"/>
                </a:solidFill>
              </a:defRPr>
            </a:pPr>
            <a:r>
              <a:t>P-VALUE</a:t>
            </a:r>
          </a:p>
          <a:p>
            <a:pPr>
              <a:spcBef>
                <a:spcPts val="500"/>
              </a:spcBef>
              <a:defRPr sz="2500" b="1">
                <a:solidFill>
                  <a:srgbClr val="192D41"/>
                </a:solidFill>
              </a:defRPr>
            </a:pPr>
            <a:r>
              <a:t>0.558718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554480" y="3337560"/>
            <a:ext cx="4297680" cy="1645920"/>
          </a:xfrm>
          <a:prstGeom prst="roundRect">
            <a:avLst/>
          </a:prstGeom>
          <a:solidFill>
            <a:srgbClr val="F4F7F8"/>
          </a:solidFill>
          <a:ln>
            <a:solidFill>
              <a:srgbClr val="E1E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1554480" y="3337560"/>
            <a:ext cx="73152" cy="1645920"/>
          </a:xfrm>
          <a:prstGeom prst="rect">
            <a:avLst/>
          </a:prstGeom>
          <a:solidFill>
            <a:srgbClr val="3782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783080" y="3502152"/>
            <a:ext cx="3886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69737D"/>
                </a:solidFill>
              </a:defRPr>
            </a:pPr>
            <a:r>
              <a:t>T-STATISTIC</a:t>
            </a:r>
          </a:p>
          <a:p>
            <a:pPr>
              <a:spcBef>
                <a:spcPts val="500"/>
              </a:spcBef>
              <a:defRPr sz="2500" b="1">
                <a:solidFill>
                  <a:srgbClr val="192D41"/>
                </a:solidFill>
              </a:defRPr>
            </a:pPr>
            <a:r>
              <a:t>0.5849</a:t>
            </a:r>
          </a:p>
          <a:p>
            <a:pPr>
              <a:spcBef>
                <a:spcPts val="500"/>
              </a:spcBef>
              <a:defRPr sz="1200">
                <a:solidFill>
                  <a:srgbClr val="2D3741"/>
                </a:solidFill>
              </a:defRPr>
            </a:pPr>
            <a:r>
              <a:t>Welch's independent two-sample t-test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63640" y="3337560"/>
            <a:ext cx="4297680" cy="1645920"/>
          </a:xfrm>
          <a:prstGeom prst="roundRect">
            <a:avLst/>
          </a:prstGeom>
          <a:solidFill>
            <a:srgbClr val="F4F7F8"/>
          </a:solidFill>
          <a:ln>
            <a:solidFill>
              <a:srgbClr val="E1E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263640" y="3337560"/>
            <a:ext cx="73152" cy="1645920"/>
          </a:xfrm>
          <a:prstGeom prst="rect">
            <a:avLst/>
          </a:prstGeom>
          <a:solidFill>
            <a:srgbClr val="D28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92240" y="3502152"/>
            <a:ext cx="3886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69737D"/>
                </a:solidFill>
              </a:defRPr>
            </a:pPr>
            <a:r>
              <a:t>95% CONFIDENCE INTERVAL</a:t>
            </a:r>
          </a:p>
          <a:p>
            <a:pPr>
              <a:spcBef>
                <a:spcPts val="500"/>
              </a:spcBef>
              <a:defRPr sz="2500" b="1">
                <a:solidFill>
                  <a:srgbClr val="192D41"/>
                </a:solidFill>
              </a:defRPr>
            </a:pPr>
            <a:r>
              <a:t>−₹10,025.11 to ₹18,539.58</a:t>
            </a:r>
          </a:p>
          <a:p>
            <a:pPr>
              <a:spcBef>
                <a:spcPts val="500"/>
              </a:spcBef>
              <a:defRPr sz="1200">
                <a:solidFill>
                  <a:srgbClr val="2D3741"/>
                </a:solidFill>
              </a:defRPr>
            </a:pPr>
            <a:r>
              <a:t>Interval contains zero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94360" y="6510528"/>
            <a:ext cx="10972800" cy="18288"/>
          </a:xfrm>
          <a:prstGeom prst="rect">
            <a:avLst/>
          </a:prstGeom>
          <a:solidFill>
            <a:srgbClr val="DCE1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0789920" y="6547104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737D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2D41"/>
                </a:solidFill>
              </a:defRPr>
            </a:pPr>
            <a:r>
              <a:t>Statistical Conclusion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325880"/>
            <a:ext cx="3017520" cy="1645920"/>
          </a:xfrm>
          <a:prstGeom prst="roundRect">
            <a:avLst/>
          </a:prstGeom>
          <a:solidFill>
            <a:srgbClr val="F4F7F8"/>
          </a:solidFill>
          <a:ln>
            <a:solidFill>
              <a:srgbClr val="E1E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914400" y="1325880"/>
            <a:ext cx="73152" cy="1645920"/>
          </a:xfrm>
          <a:prstGeom prst="rect">
            <a:avLst/>
          </a:prstGeom>
          <a:solidFill>
            <a:srgbClr val="D28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43000" y="1490472"/>
            <a:ext cx="2606039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69737D"/>
                </a:solidFill>
              </a:defRPr>
            </a:pPr>
            <a:r>
              <a:t>P-VALUE</a:t>
            </a:r>
          </a:p>
          <a:p>
            <a:pPr>
              <a:spcBef>
                <a:spcPts val="500"/>
              </a:spcBef>
              <a:defRPr sz="2500" b="1">
                <a:solidFill>
                  <a:srgbClr val="192D41"/>
                </a:solidFill>
              </a:defRPr>
            </a:pPr>
            <a:r>
              <a:t>0.558718</a:t>
            </a:r>
          </a:p>
          <a:p>
            <a:pPr>
              <a:spcBef>
                <a:spcPts val="500"/>
              </a:spcBef>
              <a:defRPr sz="1200">
                <a:solidFill>
                  <a:srgbClr val="2D3741"/>
                </a:solidFill>
              </a:defRPr>
            </a:pPr>
            <a:r>
              <a:t>Greater than α = 0.05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0" y="1325880"/>
            <a:ext cx="3017520" cy="1645920"/>
          </a:xfrm>
          <a:prstGeom prst="roundRect">
            <a:avLst/>
          </a:prstGeom>
          <a:solidFill>
            <a:srgbClr val="F4F7F8"/>
          </a:solidFill>
          <a:ln>
            <a:solidFill>
              <a:srgbClr val="E1E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572000" y="1325880"/>
            <a:ext cx="73152" cy="1645920"/>
          </a:xfrm>
          <a:prstGeom prst="rect">
            <a:avLst/>
          </a:prstGeom>
          <a:solidFill>
            <a:srgbClr val="3782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800600" y="1490472"/>
            <a:ext cx="2606039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69737D"/>
                </a:solidFill>
              </a:defRPr>
            </a:pPr>
            <a:r>
              <a:t>DECISION</a:t>
            </a:r>
          </a:p>
          <a:p>
            <a:pPr>
              <a:spcBef>
                <a:spcPts val="500"/>
              </a:spcBef>
              <a:defRPr sz="2500" b="1">
                <a:solidFill>
                  <a:srgbClr val="192D41"/>
                </a:solidFill>
              </a:defRPr>
            </a:pPr>
            <a:r>
              <a:t>Fail to reject H₀</a:t>
            </a:r>
          </a:p>
          <a:p>
            <a:pPr>
              <a:spcBef>
                <a:spcPts val="500"/>
              </a:spcBef>
              <a:defRPr sz="1200">
                <a:solidFill>
                  <a:srgbClr val="2D3741"/>
                </a:solidFill>
              </a:defRPr>
            </a:pPr>
            <a:r>
              <a:t>Insufficient evidence of a significant difference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0" y="1325880"/>
            <a:ext cx="3017520" cy="1645920"/>
          </a:xfrm>
          <a:prstGeom prst="roundRect">
            <a:avLst/>
          </a:prstGeom>
          <a:solidFill>
            <a:srgbClr val="F4F7F8"/>
          </a:solidFill>
          <a:ln>
            <a:solidFill>
              <a:srgbClr val="E1E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8229600" y="1325880"/>
            <a:ext cx="73152" cy="1645920"/>
          </a:xfrm>
          <a:prstGeom prst="rect">
            <a:avLst/>
          </a:prstGeom>
          <a:solidFill>
            <a:srgbClr val="267D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458200" y="1490472"/>
            <a:ext cx="2606039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69737D"/>
                </a:solidFill>
              </a:defRPr>
            </a:pPr>
            <a:r>
              <a:t>95% CI</a:t>
            </a:r>
          </a:p>
          <a:p>
            <a:pPr>
              <a:spcBef>
                <a:spcPts val="500"/>
              </a:spcBef>
              <a:defRPr sz="2500" b="1">
                <a:solidFill>
                  <a:srgbClr val="192D41"/>
                </a:solidFill>
              </a:defRPr>
            </a:pPr>
            <a:r>
              <a:t>Contains 0</a:t>
            </a:r>
          </a:p>
          <a:p>
            <a:pPr>
              <a:spcBef>
                <a:spcPts val="500"/>
              </a:spcBef>
              <a:defRPr sz="1200">
                <a:solidFill>
                  <a:srgbClr val="2D3741"/>
                </a:solidFill>
              </a:defRPr>
            </a:pPr>
            <a:r>
              <a:t>Supports the same conclusion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657600"/>
            <a:ext cx="1033272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92D41"/>
                </a:solidFill>
              </a:defRPr>
            </a:pPr>
            <a:r>
              <a:t>Conclusion</a:t>
            </a:r>
          </a:p>
          <a:p>
            <a:pPr>
              <a:spcBef>
                <a:spcPts val="1000"/>
              </a:spcBef>
              <a:defRPr sz="2000">
                <a:solidFill>
                  <a:srgbClr val="2D3741"/>
                </a:solidFill>
              </a:defRPr>
            </a:pPr>
            <a:r>
              <a:t>There is no statistically significant difference in average sales between male and female customers at the 5% significance level.</a:t>
            </a:r>
          </a:p>
          <a:p>
            <a:pPr>
              <a:spcBef>
                <a:spcPts val="800"/>
              </a:spcBef>
              <a:defRPr sz="1600">
                <a:solidFill>
                  <a:srgbClr val="69737D"/>
                </a:solidFill>
              </a:defRPr>
            </a:pPr>
            <a:r>
              <a:t>The observed difference should therefore not be treated as evidence that gender meaningfully explains average sales.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4360" y="6510528"/>
            <a:ext cx="10972800" cy="18288"/>
          </a:xfrm>
          <a:prstGeom prst="rect">
            <a:avLst/>
          </a:prstGeom>
          <a:solidFill>
            <a:srgbClr val="DCE1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789920" y="6547104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737D"/>
                </a:solidFill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2D41"/>
                </a:solidFill>
              </a:defRPr>
            </a:pPr>
            <a:r>
              <a:t>Business Recommendations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515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D3741"/>
                </a:solidFill>
              </a:defRPr>
            </a:pPr>
            <a:r>
              <a:t>• Prioritize high-performing product categories</a:t>
            </a:r>
          </a:p>
          <a:p>
            <a:pPr>
              <a:spcAft>
                <a:spcPts val="1000"/>
              </a:spcAft>
              <a:defRPr sz="1800">
                <a:solidFill>
                  <a:srgbClr val="2D3741"/>
                </a:solidFill>
              </a:defRPr>
            </a:pPr>
            <a:r>
              <a:t>• Maintain adequate inventory for popular products</a:t>
            </a:r>
          </a:p>
          <a:p>
            <a:pPr>
              <a:spcAft>
                <a:spcPts val="1000"/>
              </a:spcAft>
              <a:defRPr sz="1800">
                <a:solidFill>
                  <a:srgbClr val="2D3741"/>
                </a:solidFill>
              </a:defRPr>
            </a:pPr>
            <a:r>
              <a:t>• Strengthen strategies in high-performing cities</a:t>
            </a:r>
          </a:p>
          <a:p>
            <a:pPr>
              <a:spcAft>
                <a:spcPts val="1000"/>
              </a:spcAft>
              <a:defRPr sz="1800">
                <a:solidFill>
                  <a:srgbClr val="2D3741"/>
                </a:solidFill>
              </a:defRPr>
            </a:pPr>
            <a:r>
              <a:t>• Target customers based on purchasing behavior and value</a:t>
            </a:r>
          </a:p>
          <a:p>
            <a:pPr>
              <a:spcAft>
                <a:spcPts val="1000"/>
              </a:spcAft>
              <a:defRPr sz="1800">
                <a:solidFill>
                  <a:srgbClr val="2D3741"/>
                </a:solidFill>
              </a:defRPr>
            </a:pPr>
            <a:r>
              <a:t>• Prepare campaigns and inventory for seasonal demand</a:t>
            </a:r>
          </a:p>
          <a:p>
            <a:pPr>
              <a:spcAft>
                <a:spcPts val="1000"/>
              </a:spcAft>
              <a:defRPr sz="1800">
                <a:solidFill>
                  <a:srgbClr val="2D3741"/>
                </a:solidFill>
              </a:defRPr>
            </a:pPr>
            <a:r>
              <a:t>• Avoid relying on gender alone for customer targeting</a:t>
            </a:r>
          </a:p>
          <a:p>
            <a:pPr>
              <a:spcAft>
                <a:spcPts val="1000"/>
              </a:spcAft>
              <a:defRPr sz="1800">
                <a:solidFill>
                  <a:srgbClr val="2D3741"/>
                </a:solidFill>
              </a:defRPr>
            </a:pPr>
            <a:r>
              <a:t>• Use statistical validation before making major business decisions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510528"/>
            <a:ext cx="10972800" cy="18288"/>
          </a:xfrm>
          <a:prstGeom prst="rect">
            <a:avLst/>
          </a:prstGeom>
          <a:solidFill>
            <a:srgbClr val="DCE1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789920" y="6547104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737D"/>
                </a:solidFill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2D41"/>
                </a:solidFill>
              </a:defRPr>
            </a:pPr>
            <a:r>
              <a:t>Final Business Impact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828800"/>
            <a:ext cx="2286000" cy="2194560"/>
          </a:xfrm>
          <a:prstGeom prst="roundRect">
            <a:avLst/>
          </a:prstGeom>
          <a:solidFill>
            <a:srgbClr val="F4F7F8"/>
          </a:solidFill>
          <a:ln>
            <a:solidFill>
              <a:srgbClr val="E1E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40080" y="1828800"/>
            <a:ext cx="73152" cy="2194560"/>
          </a:xfrm>
          <a:prstGeom prst="rect">
            <a:avLst/>
          </a:prstGeom>
          <a:solidFill>
            <a:srgbClr val="267D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1993392"/>
            <a:ext cx="1874519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69737D"/>
                </a:solidFill>
              </a:defRPr>
            </a:pPr>
            <a:r>
              <a:t>DATA</a:t>
            </a:r>
          </a:p>
          <a:p>
            <a:pPr>
              <a:spcBef>
                <a:spcPts val="500"/>
              </a:spcBef>
              <a:defRPr sz="1200">
                <a:solidFill>
                  <a:srgbClr val="2D3741"/>
                </a:solidFill>
              </a:defRPr>
            </a:pPr>
            <a:r>
              <a:t>Historical transactions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26080" y="2514600"/>
            <a:ext cx="594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69737D"/>
                </a:solidFill>
              </a:defRPr>
            </a:pPr>
            <a:r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20440" y="1828800"/>
            <a:ext cx="2286000" cy="2194560"/>
          </a:xfrm>
          <a:prstGeom prst="roundRect">
            <a:avLst/>
          </a:prstGeom>
          <a:solidFill>
            <a:srgbClr val="F4F7F8"/>
          </a:solidFill>
          <a:ln>
            <a:solidFill>
              <a:srgbClr val="E1E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520440" y="1828800"/>
            <a:ext cx="73152" cy="2194560"/>
          </a:xfrm>
          <a:prstGeom prst="rect">
            <a:avLst/>
          </a:prstGeom>
          <a:solidFill>
            <a:srgbClr val="3782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749039" y="1993392"/>
            <a:ext cx="1874519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69737D"/>
                </a:solidFill>
              </a:defRPr>
            </a:pPr>
            <a:r>
              <a:t>INSIGHTS</a:t>
            </a:r>
          </a:p>
          <a:p>
            <a:pPr>
              <a:spcBef>
                <a:spcPts val="500"/>
              </a:spcBef>
              <a:defRPr sz="1200">
                <a:solidFill>
                  <a:srgbClr val="2D3741"/>
                </a:solidFill>
              </a:defRPr>
            </a:pPr>
            <a:r>
              <a:t>Products • Markets • Customers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06440" y="2514600"/>
            <a:ext cx="594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69737D"/>
                </a:solidFill>
              </a:defRPr>
            </a:pPr>
            <a: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1828800"/>
            <a:ext cx="2286000" cy="2194560"/>
          </a:xfrm>
          <a:prstGeom prst="roundRect">
            <a:avLst/>
          </a:prstGeom>
          <a:solidFill>
            <a:srgbClr val="F4F7F8"/>
          </a:solidFill>
          <a:ln>
            <a:solidFill>
              <a:srgbClr val="E1E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400800" y="1828800"/>
            <a:ext cx="73152" cy="2194560"/>
          </a:xfrm>
          <a:prstGeom prst="rect">
            <a:avLst/>
          </a:prstGeom>
          <a:solidFill>
            <a:srgbClr val="D28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629400" y="1993392"/>
            <a:ext cx="1874519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69737D"/>
                </a:solidFill>
              </a:defRPr>
            </a:pPr>
            <a:r>
              <a:t>VALIDATION</a:t>
            </a:r>
          </a:p>
          <a:p>
            <a:pPr>
              <a:spcBef>
                <a:spcPts val="500"/>
              </a:spcBef>
              <a:defRPr sz="1200">
                <a:solidFill>
                  <a:srgbClr val="2D3741"/>
                </a:solidFill>
              </a:defRPr>
            </a:pPr>
            <a:r>
              <a:t>Statistical evidence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0" y="2514600"/>
            <a:ext cx="594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69737D"/>
                </a:solidFill>
              </a:defRPr>
            </a:pPr>
            <a: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281160" y="1828800"/>
            <a:ext cx="2286000" cy="2194560"/>
          </a:xfrm>
          <a:prstGeom prst="roundRect">
            <a:avLst/>
          </a:prstGeom>
          <a:solidFill>
            <a:srgbClr val="F4F7F8"/>
          </a:solidFill>
          <a:ln>
            <a:solidFill>
              <a:srgbClr val="E1E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9281160" y="1828800"/>
            <a:ext cx="73152" cy="2194560"/>
          </a:xfrm>
          <a:prstGeom prst="rect">
            <a:avLst/>
          </a:prstGeom>
          <a:solidFill>
            <a:srgbClr val="267D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509760" y="1993392"/>
            <a:ext cx="1874519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69737D"/>
                </a:solidFill>
              </a:defRPr>
            </a:pPr>
            <a:r>
              <a:t>ACTION</a:t>
            </a:r>
          </a:p>
          <a:p>
            <a:pPr>
              <a:spcBef>
                <a:spcPts val="500"/>
              </a:spcBef>
              <a:defRPr sz="1200">
                <a:solidFill>
                  <a:srgbClr val="2D3741"/>
                </a:solidFill>
              </a:defRPr>
            </a:pPr>
            <a:r>
              <a:t>Focused decisions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480060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192D41"/>
                </a:solidFill>
              </a:defRPr>
            </a:pPr>
            <a:r>
              <a:t>Data → Insights → Validation → Action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94360" y="6510528"/>
            <a:ext cx="10972800" cy="18288"/>
          </a:xfrm>
          <a:prstGeom prst="rect">
            <a:avLst/>
          </a:prstGeom>
          <a:solidFill>
            <a:srgbClr val="DCE1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0789920" y="6547104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737D"/>
                </a:solidFill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92D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728434" y="2148840"/>
            <a:ext cx="2704651" cy="13131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rPr dirty="0"/>
              <a:t>Thank You</a:t>
            </a:r>
          </a:p>
          <a:p>
            <a:pPr algn="ctr">
              <a:spcBef>
                <a:spcPts val="1600"/>
              </a:spcBef>
              <a:defRPr sz="2200">
                <a:solidFill>
                  <a:srgbClr val="BEE1DC"/>
                </a:solidFill>
              </a:defRPr>
            </a:pPr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4114800" y="5212080"/>
            <a:ext cx="3931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>
                <a:solidFill>
                  <a:srgbClr val="FFFFFF"/>
                </a:solidFill>
              </a:defRPr>
            </a:pPr>
            <a:r>
              <a:t>Retail Sales Analysis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494</Words>
  <Application>Microsoft Office PowerPoint</Application>
  <PresentationFormat>Widescreen</PresentationFormat>
  <Paragraphs>116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ananya N</cp:lastModifiedBy>
  <cp:revision>2</cp:revision>
  <dcterms:created xsi:type="dcterms:W3CDTF">2013-01-27T09:14:16Z</dcterms:created>
  <dcterms:modified xsi:type="dcterms:W3CDTF">2026-09-05T10:39:29Z</dcterms:modified>
  <cp:category/>
</cp:coreProperties>
</file>